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0" r:id="rId4"/>
    <p:sldId id="259" r:id="rId5"/>
    <p:sldId id="258" r:id="rId6"/>
    <p:sldId id="257" r:id="rId7"/>
  </p:sldIdLst>
  <p:sldSz cx="35999420" cy="179997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00000" y="2945835"/>
            <a:ext cx="27000000" cy="6266667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00000" y="9454168"/>
            <a:ext cx="27000000" cy="434583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599815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399780" indent="0" algn="ctr">
              <a:buNone/>
              <a:defRPr sz="4200"/>
            </a:lvl8pPr>
            <a:lvl9pPr marL="9599930" indent="0" algn="ctr">
              <a:buNone/>
              <a:defRPr sz="4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6250" y="4487501"/>
            <a:ext cx="31050000" cy="7487499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56250" y="12045835"/>
            <a:ext cx="31050000" cy="3937499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5998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39978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59993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75000" y="4791667"/>
            <a:ext cx="15300000" cy="1142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8225000" y="4791667"/>
            <a:ext cx="15300000" cy="1142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9689" y="958333"/>
            <a:ext cx="31050000" cy="347916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79689" y="4412501"/>
            <a:ext cx="15229686" cy="2162499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599815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399780" indent="0">
              <a:buNone/>
              <a:defRPr sz="4200" b="1"/>
            </a:lvl8pPr>
            <a:lvl9pPr marL="9599930" indent="0">
              <a:buNone/>
              <a:defRPr sz="4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479689" y="6575000"/>
            <a:ext cx="15229686" cy="967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8225000" y="4412501"/>
            <a:ext cx="15304689" cy="2162499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599815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399780" indent="0">
              <a:buNone/>
              <a:defRPr sz="4200" b="1"/>
            </a:lvl8pPr>
            <a:lvl9pPr marL="9599930" indent="0">
              <a:buNone/>
              <a:defRPr sz="4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8225000" y="6575000"/>
            <a:ext cx="15304689" cy="967083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9689" y="1200000"/>
            <a:ext cx="11610936" cy="4200000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04689" y="2591667"/>
            <a:ext cx="18225000" cy="12791667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79689" y="5400000"/>
            <a:ext cx="11610936" cy="10004168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599815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399780" indent="0">
              <a:buNone/>
              <a:defRPr sz="2625"/>
            </a:lvl8pPr>
            <a:lvl9pPr marL="9599930" indent="0">
              <a:buNone/>
              <a:defRPr sz="26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9689" y="1200000"/>
            <a:ext cx="11610936" cy="4200000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304689" y="2591667"/>
            <a:ext cx="18225000" cy="12791667"/>
          </a:xfrm>
        </p:spPr>
        <p:txBody>
          <a:bodyPr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599815" indent="0">
              <a:buNone/>
              <a:defRPr sz="5250"/>
            </a:lvl4pPr>
            <a:lvl5pPr marL="4799965" indent="0">
              <a:buNone/>
              <a:defRPr sz="5250"/>
            </a:lvl5pPr>
            <a:lvl6pPr marL="6000115" indent="0">
              <a:buNone/>
              <a:defRPr sz="5250"/>
            </a:lvl6pPr>
            <a:lvl7pPr marL="7200265" indent="0">
              <a:buNone/>
              <a:defRPr sz="5250"/>
            </a:lvl7pPr>
            <a:lvl8pPr marL="8399780" indent="0">
              <a:buNone/>
              <a:defRPr sz="5250"/>
            </a:lvl8pPr>
            <a:lvl9pPr marL="9599930" indent="0">
              <a:buNone/>
              <a:defRPr sz="52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79689" y="5400000"/>
            <a:ext cx="11610936" cy="10004168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599815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399780" indent="0">
              <a:buNone/>
              <a:defRPr sz="2625"/>
            </a:lvl8pPr>
            <a:lvl9pPr marL="9599930" indent="0">
              <a:buNone/>
              <a:defRPr sz="26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5762500" y="958333"/>
            <a:ext cx="7762500" cy="1525416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75000" y="958333"/>
            <a:ext cx="22837500" cy="1525416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475000" y="958333"/>
            <a:ext cx="31050000" cy="3479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75000" y="4791667"/>
            <a:ext cx="31050000" cy="11420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475000" y="16683334"/>
            <a:ext cx="8100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1925000" y="16683334"/>
            <a:ext cx="12150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5425000" y="16683334"/>
            <a:ext cx="8100000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ct val="526000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299974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19989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4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799705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999855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005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5998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39978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59993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3" name="组合 172"/>
          <p:cNvGrpSpPr/>
          <p:nvPr/>
        </p:nvGrpSpPr>
        <p:grpSpPr>
          <a:xfrm rot="0">
            <a:off x="16433800" y="7508240"/>
            <a:ext cx="541020" cy="2341245"/>
            <a:chOff x="12174" y="22678"/>
            <a:chExt cx="852" cy="3687"/>
          </a:xfrm>
        </p:grpSpPr>
        <p:sp>
          <p:nvSpPr>
            <p:cNvPr id="161" name="矩形 160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16717645" y="7505065"/>
            <a:ext cx="2287270" cy="2343150"/>
            <a:chOff x="17896" y="16751"/>
            <a:chExt cx="3602" cy="3690"/>
          </a:xfrm>
        </p:grpSpPr>
        <p:grpSp>
          <p:nvGrpSpPr>
            <p:cNvPr id="18" name="组合 17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梯形 3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41" name="直接箭头连接符 40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梯形 41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60" name="直接箭头连接符 5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梯形 6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63" name="直接箭头连接符 6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4" name="梯形 6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73" name="直接箭头连接符 7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4" name="梯形 7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 rot="0">
            <a:off x="8141970" y="7505700"/>
            <a:ext cx="3364865" cy="2341245"/>
            <a:chOff x="2652" y="12437"/>
            <a:chExt cx="5299" cy="3687"/>
          </a:xfrm>
        </p:grpSpPr>
        <p:sp>
          <p:nvSpPr>
            <p:cNvPr id="4" name="矩形 3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 rot="0">
            <a:off x="11389360" y="7505700"/>
            <a:ext cx="541020" cy="2341245"/>
            <a:chOff x="12174" y="22678"/>
            <a:chExt cx="852" cy="3687"/>
          </a:xfrm>
        </p:grpSpPr>
        <p:sp>
          <p:nvSpPr>
            <p:cNvPr id="58" name="矩形 57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矩形 67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矩形 69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987135" y="7506018"/>
            <a:ext cx="2285365" cy="2341245"/>
            <a:chOff x="22130" y="11820"/>
            <a:chExt cx="3599" cy="3687"/>
          </a:xfrm>
        </p:grpSpPr>
        <p:sp>
          <p:nvSpPr>
            <p:cNvPr id="44" name="矩形 43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4" name="肘形连接符 153"/>
          <p:cNvCxnSpPr>
            <a:stCxn id="76" idx="0"/>
            <a:endCxn id="158" idx="1"/>
          </p:cNvCxnSpPr>
          <p:nvPr/>
        </p:nvCxnSpPr>
        <p:spPr>
          <a:xfrm rot="16200000">
            <a:off x="25230773" y="5290503"/>
            <a:ext cx="1352550" cy="362013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3990955" y="7505700"/>
            <a:ext cx="2285365" cy="2341245"/>
            <a:chOff x="22130" y="11820"/>
            <a:chExt cx="3599" cy="368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11703050" y="7505065"/>
            <a:ext cx="2287270" cy="2343150"/>
            <a:chOff x="17896" y="16751"/>
            <a:chExt cx="3602" cy="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梯形 1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梯形 27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30" name="直接箭头连接符 2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梯形 3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梯形 3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36" name="直接箭头连接符 35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梯形 36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66" name="直接箭头连接符 65"/>
          <p:cNvCxnSpPr/>
          <p:nvPr/>
        </p:nvCxnSpPr>
        <p:spPr>
          <a:xfrm>
            <a:off x="21257895" y="8676640"/>
            <a:ext cx="1786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梯形 66"/>
          <p:cNvSpPr/>
          <p:nvPr/>
        </p:nvSpPr>
        <p:spPr>
          <a:xfrm rot="5400000">
            <a:off x="21064220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>
            <a:spLocks noChangeAspect="1"/>
          </p:cNvSpPr>
          <p:nvPr/>
        </p:nvSpPr>
        <p:spPr>
          <a:xfrm>
            <a:off x="23196550" y="7776845"/>
            <a:ext cx="1800225" cy="1799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 rot="0">
            <a:off x="25549225" y="7503795"/>
            <a:ext cx="2289810" cy="2345690"/>
            <a:chOff x="28718" y="11791"/>
            <a:chExt cx="3606" cy="369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29490" y="11791"/>
              <a:ext cx="2834" cy="2834"/>
              <a:chOff x="20079" y="23668"/>
              <a:chExt cx="2834" cy="2834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梯形 12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29297" y="12006"/>
              <a:ext cx="2834" cy="2834"/>
              <a:chOff x="20079" y="23668"/>
              <a:chExt cx="2834" cy="2834"/>
            </a:xfrm>
          </p:grpSpPr>
          <p:cxnSp>
            <p:nvCxnSpPr>
              <p:cNvPr id="127" name="直接箭头连接符 126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梯形 127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104" y="12221"/>
              <a:ext cx="2834" cy="2834"/>
              <a:chOff x="20079" y="23668"/>
              <a:chExt cx="2834" cy="2834"/>
            </a:xfrm>
          </p:grpSpPr>
          <p:cxnSp>
            <p:nvCxnSpPr>
              <p:cNvPr id="130" name="直接箭头连接符 129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1" name="梯形 130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8911" y="12436"/>
              <a:ext cx="2834" cy="2834"/>
              <a:chOff x="20079" y="23668"/>
              <a:chExt cx="2834" cy="2834"/>
            </a:xfrm>
          </p:grpSpPr>
          <p:cxnSp>
            <p:nvCxnSpPr>
              <p:cNvPr id="133" name="直接箭头连接符 13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梯形 13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28718" y="12651"/>
              <a:ext cx="2834" cy="2834"/>
              <a:chOff x="20079" y="23668"/>
              <a:chExt cx="2834" cy="2834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梯形 136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47" name="梯形 146"/>
          <p:cNvSpPr/>
          <p:nvPr/>
        </p:nvSpPr>
        <p:spPr>
          <a:xfrm rot="5400000">
            <a:off x="24829135" y="6243955"/>
            <a:ext cx="1080135" cy="360045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左中括号 151"/>
          <p:cNvSpPr/>
          <p:nvPr/>
        </p:nvSpPr>
        <p:spPr>
          <a:xfrm rot="2460000">
            <a:off x="18989675" y="733044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7717115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y’</a:t>
            </a:r>
            <a:endParaRPr lang="en-US" altLang="zh-CN" sz="3200">
              <a:latin typeface="+mn-ea"/>
            </a:endParaRPr>
          </a:p>
        </p:txBody>
      </p:sp>
      <p:sp>
        <p:nvSpPr>
          <p:cNvPr id="174" name="左中括号 173"/>
          <p:cNvSpPr/>
          <p:nvPr/>
        </p:nvSpPr>
        <p:spPr>
          <a:xfrm rot="2460000">
            <a:off x="1654492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6612235" y="539559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latin typeface="+mn-ea"/>
              </a:rPr>
              <a:t>Clustering labels</a:t>
            </a:r>
            <a:endParaRPr lang="en-US" altLang="zh-CN" b="1">
              <a:latin typeface="+mn-ea"/>
            </a:endParaRPr>
          </a:p>
        </p:txBody>
      </p:sp>
      <p:cxnSp>
        <p:nvCxnSpPr>
          <p:cNvPr id="176" name="肘形连接符 175"/>
          <p:cNvCxnSpPr>
            <a:stCxn id="174" idx="1"/>
            <a:endCxn id="177" idx="0"/>
          </p:cNvCxnSpPr>
          <p:nvPr/>
        </p:nvCxnSpPr>
        <p:spPr>
          <a:xfrm rot="10800000" flipH="1">
            <a:off x="16559530" y="6131560"/>
            <a:ext cx="14234795" cy="1542415"/>
          </a:xfrm>
          <a:prstGeom prst="bentConnector4">
            <a:avLst>
              <a:gd name="adj1" fmla="val -1449"/>
              <a:gd name="adj2" fmla="val 15619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30459680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</a:t>
            </a:r>
            <a:endParaRPr lang="en-US" altLang="zh-CN" sz="3200">
              <a:latin typeface="+mn-ea"/>
            </a:endParaRPr>
          </a:p>
        </p:txBody>
      </p:sp>
      <p:cxnSp>
        <p:nvCxnSpPr>
          <p:cNvPr id="178" name="直接连接符 177"/>
          <p:cNvCxnSpPr>
            <a:stCxn id="158" idx="3"/>
            <a:endCxn id="177" idx="1"/>
          </p:cNvCxnSpPr>
          <p:nvPr/>
        </p:nvCxnSpPr>
        <p:spPr>
          <a:xfrm>
            <a:off x="28387675" y="6424295"/>
            <a:ext cx="20720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文本框 178"/>
          <p:cNvSpPr txBox="1"/>
          <p:nvPr/>
        </p:nvSpPr>
        <p:spPr>
          <a:xfrm>
            <a:off x="28752165" y="6132195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cls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9786600" y="6132195"/>
            <a:ext cx="124396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+mn-ea"/>
              </a:rPr>
              <a:t>L</a:t>
            </a:r>
            <a:r>
              <a:rPr lang="en-US" altLang="zh-CN" sz="3200" baseline="-25000">
                <a:solidFill>
                  <a:schemeClr val="tx1"/>
                </a:solidFill>
                <a:latin typeface="+mn-ea"/>
              </a:rPr>
              <a:t>con</a:t>
            </a:r>
            <a:endParaRPr lang="en-US" altLang="zh-CN" sz="3200" baseline="-250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1" name="肘形连接符 180"/>
          <p:cNvCxnSpPr>
            <a:stCxn id="152" idx="1"/>
            <a:endCxn id="180" idx="1"/>
          </p:cNvCxnSpPr>
          <p:nvPr/>
        </p:nvCxnSpPr>
        <p:spPr>
          <a:xfrm rot="10800000" flipH="1">
            <a:off x="19004915" y="6424295"/>
            <a:ext cx="781685" cy="1252220"/>
          </a:xfrm>
          <a:prstGeom prst="bentConnector3">
            <a:avLst>
              <a:gd name="adj1" fmla="val -8285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3" name="左中括号 182"/>
          <p:cNvSpPr/>
          <p:nvPr/>
        </p:nvSpPr>
        <p:spPr>
          <a:xfrm rot="2460000" flipH="1" flipV="1">
            <a:off x="21056600" y="835279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左中括号 183"/>
          <p:cNvSpPr/>
          <p:nvPr/>
        </p:nvSpPr>
        <p:spPr>
          <a:xfrm rot="2460000">
            <a:off x="25639395" y="822960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5" name="直接箭头连接符 184"/>
          <p:cNvCxnSpPr/>
          <p:nvPr/>
        </p:nvCxnSpPr>
        <p:spPr>
          <a:xfrm>
            <a:off x="25135840" y="8676640"/>
            <a:ext cx="431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14197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Raw embeddings</a:t>
            </a:r>
            <a:endParaRPr lang="en-US" altLang="zh-CN" b="1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345120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Adjusted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844738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Encoded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241423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Fused embeddings</a:t>
            </a:r>
            <a:endParaRPr lang="en-US" altLang="zh-CN" b="1">
              <a:latin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2790126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Reconstructed embeddings​</a:t>
            </a:r>
            <a:endParaRPr lang="en-US" altLang="zh-CN" b="1">
              <a:latin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489440" y="1107821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</a:t>
            </a:r>
            <a:endParaRPr lang="en-US" altLang="zh-CN" sz="3200">
              <a:latin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9101415" y="11078210"/>
            <a:ext cx="96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X’</a:t>
            </a:r>
            <a:endParaRPr lang="en-US" altLang="zh-CN" sz="3200">
              <a:latin typeface="+mn-ea"/>
            </a:endParaRPr>
          </a:p>
        </p:txBody>
      </p:sp>
      <p:cxnSp>
        <p:nvCxnSpPr>
          <p:cNvPr id="193" name="直接连接符 192"/>
          <p:cNvCxnSpPr>
            <a:stCxn id="191" idx="3"/>
            <a:endCxn id="192" idx="1"/>
          </p:cNvCxnSpPr>
          <p:nvPr/>
        </p:nvCxnSpPr>
        <p:spPr>
          <a:xfrm>
            <a:off x="10160000" y="11370310"/>
            <a:ext cx="189414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26166445" y="1107821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rec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116393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Adapters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6694468" y="6715760"/>
            <a:ext cx="266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Encoders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055241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Fuser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501138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Decoders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051935" y="5309235"/>
            <a:ext cx="11666855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n-ea"/>
              </a:rPr>
              <a:t>RepGene Model Architecture Diagram with Data Flow</a:t>
            </a:r>
            <a:endParaRPr lang="en-US" altLang="zh-CN" sz="3200">
              <a:latin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05193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full</a:t>
            </a:r>
            <a:r>
              <a:rPr lang="en-US" altLang="zh-CN" sz="3200">
                <a:latin typeface="+mn-ea"/>
              </a:rPr>
              <a:t> = 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 + λ</a:t>
            </a:r>
            <a:r>
              <a:rPr lang="en-US" altLang="zh-CN" sz="3200" baseline="-25000">
                <a:latin typeface="+mn-ea"/>
                <a:sym typeface="+mn-ea"/>
              </a:rPr>
              <a:t>1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cls </a:t>
            </a:r>
            <a:r>
              <a:rPr lang="en-US" altLang="zh-CN" sz="3200">
                <a:latin typeface="+mn-ea"/>
                <a:sym typeface="+mn-ea"/>
              </a:rPr>
              <a:t>+ λ</a:t>
            </a:r>
            <a:r>
              <a:rPr lang="en-US" altLang="zh-CN" sz="3200" baseline="-25000">
                <a:latin typeface="+mn-ea"/>
                <a:sym typeface="+mn-ea"/>
              </a:rPr>
              <a:t>2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rec </a:t>
            </a:r>
            <a:endParaRPr lang="en-US" altLang="zh-CN" sz="3200">
              <a:latin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2544762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3200">
                <a:latin typeface="+mn-ea"/>
              </a:rPr>
              <a:t>2025-10-23 V17C20</a:t>
            </a:r>
            <a:endParaRPr lang="en-US" altLang="zh-CN" sz="320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1935" y="7084060"/>
            <a:ext cx="321564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</a:rPr>
              <a:t>Genomic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Transcriptomic</a:t>
            </a:r>
            <a:endParaRPr lang="en-US" altLang="zh-CN" b="1">
              <a:latin typeface="+mn-ea"/>
              <a:sym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Proteomic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Text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Single-cell Transcriptomic</a:t>
            </a:r>
            <a:endParaRPr lang="en-US" altLang="zh-CN" b="1">
              <a:latin typeface="+mn-ea"/>
            </a:endParaRPr>
          </a:p>
        </p:txBody>
      </p:sp>
      <p:sp>
        <p:nvSpPr>
          <p:cNvPr id="3" name="左中括号 2"/>
          <p:cNvSpPr/>
          <p:nvPr/>
        </p:nvSpPr>
        <p:spPr>
          <a:xfrm rot="2460000">
            <a:off x="8144510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中括号 5"/>
          <p:cNvSpPr/>
          <p:nvPr/>
        </p:nvSpPr>
        <p:spPr>
          <a:xfrm flipH="1">
            <a:off x="7280910" y="7382510"/>
            <a:ext cx="123825" cy="252000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曲线连接符 13"/>
          <p:cNvCxnSpPr>
            <a:stCxn id="6" idx="1"/>
            <a:endCxn id="3" idx="1"/>
          </p:cNvCxnSpPr>
          <p:nvPr/>
        </p:nvCxnSpPr>
        <p:spPr>
          <a:xfrm flipV="1">
            <a:off x="7404735" y="7674610"/>
            <a:ext cx="755015" cy="968375"/>
          </a:xfrm>
          <a:prstGeom prst="curvedConnector3">
            <a:avLst>
              <a:gd name="adj1" fmla="val 3322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97700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Modals</a:t>
            </a:r>
            <a:endParaRPr lang="en-US" altLang="zh-CN" b="1">
              <a:latin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27901265" y="7506018"/>
            <a:ext cx="3364865" cy="2341245"/>
            <a:chOff x="2652" y="12437"/>
            <a:chExt cx="5299" cy="3687"/>
          </a:xfrm>
        </p:grpSpPr>
        <p:sp>
          <p:nvSpPr>
            <p:cNvPr id="50" name="矩形 49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23686453" y="539559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Classification head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3" name="组合 172"/>
          <p:cNvGrpSpPr/>
          <p:nvPr/>
        </p:nvGrpSpPr>
        <p:grpSpPr>
          <a:xfrm rot="0">
            <a:off x="16433800" y="7508240"/>
            <a:ext cx="541020" cy="2341245"/>
            <a:chOff x="12174" y="22678"/>
            <a:chExt cx="852" cy="3687"/>
          </a:xfrm>
        </p:grpSpPr>
        <p:sp>
          <p:nvSpPr>
            <p:cNvPr id="161" name="矩形 160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16717645" y="7505065"/>
            <a:ext cx="2287270" cy="2343150"/>
            <a:chOff x="17896" y="16751"/>
            <a:chExt cx="3602" cy="3690"/>
          </a:xfrm>
        </p:grpSpPr>
        <p:grpSp>
          <p:nvGrpSpPr>
            <p:cNvPr id="18" name="组合 17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梯形 3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41" name="直接箭头连接符 40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梯形 41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60" name="直接箭头连接符 5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梯形 6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63" name="直接箭头连接符 6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4" name="梯形 6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73" name="直接箭头连接符 7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4" name="梯形 7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 rot="0">
            <a:off x="8141970" y="7505700"/>
            <a:ext cx="3364865" cy="2341245"/>
            <a:chOff x="2652" y="12437"/>
            <a:chExt cx="5299" cy="3687"/>
          </a:xfrm>
        </p:grpSpPr>
        <p:sp>
          <p:nvSpPr>
            <p:cNvPr id="4" name="矩形 3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 rot="0">
            <a:off x="11389360" y="7505700"/>
            <a:ext cx="541020" cy="2341245"/>
            <a:chOff x="12174" y="22678"/>
            <a:chExt cx="852" cy="3687"/>
          </a:xfrm>
        </p:grpSpPr>
        <p:sp>
          <p:nvSpPr>
            <p:cNvPr id="58" name="矩形 57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矩形 67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矩形 69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987135" y="7506018"/>
            <a:ext cx="2285365" cy="2341245"/>
            <a:chOff x="22130" y="11820"/>
            <a:chExt cx="3599" cy="3687"/>
          </a:xfrm>
        </p:grpSpPr>
        <p:sp>
          <p:nvSpPr>
            <p:cNvPr id="44" name="矩形 43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4" name="肘形连接符 153"/>
          <p:cNvCxnSpPr>
            <a:stCxn id="76" idx="0"/>
            <a:endCxn id="158" idx="1"/>
          </p:cNvCxnSpPr>
          <p:nvPr/>
        </p:nvCxnSpPr>
        <p:spPr>
          <a:xfrm rot="16200000">
            <a:off x="25230773" y="5290503"/>
            <a:ext cx="1352550" cy="362013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3990955" y="7505700"/>
            <a:ext cx="2285365" cy="2341245"/>
            <a:chOff x="22130" y="11820"/>
            <a:chExt cx="3599" cy="368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11703050" y="7505065"/>
            <a:ext cx="2287270" cy="2343150"/>
            <a:chOff x="17896" y="16751"/>
            <a:chExt cx="3602" cy="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梯形 1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梯形 27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30" name="直接箭头连接符 2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梯形 3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梯形 3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36" name="直接箭头连接符 35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梯形 36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66" name="直接箭头连接符 65"/>
          <p:cNvCxnSpPr/>
          <p:nvPr/>
        </p:nvCxnSpPr>
        <p:spPr>
          <a:xfrm>
            <a:off x="21257895" y="8676640"/>
            <a:ext cx="1786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梯形 66"/>
          <p:cNvSpPr/>
          <p:nvPr/>
        </p:nvSpPr>
        <p:spPr>
          <a:xfrm rot="5400000">
            <a:off x="21064220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>
            <a:spLocks noChangeAspect="1"/>
          </p:cNvSpPr>
          <p:nvPr/>
        </p:nvSpPr>
        <p:spPr>
          <a:xfrm>
            <a:off x="23196550" y="7776845"/>
            <a:ext cx="1800225" cy="1799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 rot="0">
            <a:off x="25549225" y="7503795"/>
            <a:ext cx="2289810" cy="2345690"/>
            <a:chOff x="28718" y="11791"/>
            <a:chExt cx="3606" cy="369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29490" y="11791"/>
              <a:ext cx="2834" cy="2834"/>
              <a:chOff x="20079" y="23668"/>
              <a:chExt cx="2834" cy="2834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梯形 12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29297" y="12006"/>
              <a:ext cx="2834" cy="2834"/>
              <a:chOff x="20079" y="23668"/>
              <a:chExt cx="2834" cy="2834"/>
            </a:xfrm>
          </p:grpSpPr>
          <p:cxnSp>
            <p:nvCxnSpPr>
              <p:cNvPr id="127" name="直接箭头连接符 126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梯形 127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104" y="12221"/>
              <a:ext cx="2834" cy="2834"/>
              <a:chOff x="20079" y="23668"/>
              <a:chExt cx="2834" cy="2834"/>
            </a:xfrm>
          </p:grpSpPr>
          <p:cxnSp>
            <p:nvCxnSpPr>
              <p:cNvPr id="130" name="直接箭头连接符 129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1" name="梯形 130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8911" y="12436"/>
              <a:ext cx="2834" cy="2834"/>
              <a:chOff x="20079" y="23668"/>
              <a:chExt cx="2834" cy="2834"/>
            </a:xfrm>
          </p:grpSpPr>
          <p:cxnSp>
            <p:nvCxnSpPr>
              <p:cNvPr id="133" name="直接箭头连接符 13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梯形 13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28718" y="12651"/>
              <a:ext cx="2834" cy="2834"/>
              <a:chOff x="20079" y="23668"/>
              <a:chExt cx="2834" cy="2834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梯形 136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47" name="梯形 146"/>
          <p:cNvSpPr/>
          <p:nvPr/>
        </p:nvSpPr>
        <p:spPr>
          <a:xfrm rot="5400000">
            <a:off x="24829135" y="6243955"/>
            <a:ext cx="1080135" cy="360045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左中括号 151"/>
          <p:cNvSpPr/>
          <p:nvPr/>
        </p:nvSpPr>
        <p:spPr>
          <a:xfrm rot="2460000">
            <a:off x="18989675" y="733044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7717115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y’</a:t>
            </a:r>
            <a:endParaRPr lang="en-US" altLang="zh-CN" sz="3200">
              <a:latin typeface="+mn-ea"/>
            </a:endParaRPr>
          </a:p>
        </p:txBody>
      </p:sp>
      <p:sp>
        <p:nvSpPr>
          <p:cNvPr id="174" name="左中括号 173"/>
          <p:cNvSpPr/>
          <p:nvPr/>
        </p:nvSpPr>
        <p:spPr>
          <a:xfrm rot="2460000">
            <a:off x="1654492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6612235" y="539559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latin typeface="+mn-ea"/>
              </a:rPr>
              <a:t>Clustering labels</a:t>
            </a:r>
            <a:endParaRPr lang="en-US" altLang="zh-CN" b="1">
              <a:latin typeface="+mn-ea"/>
            </a:endParaRPr>
          </a:p>
        </p:txBody>
      </p:sp>
      <p:cxnSp>
        <p:nvCxnSpPr>
          <p:cNvPr id="176" name="肘形连接符 175"/>
          <p:cNvCxnSpPr>
            <a:stCxn id="174" idx="1"/>
            <a:endCxn id="177" idx="0"/>
          </p:cNvCxnSpPr>
          <p:nvPr/>
        </p:nvCxnSpPr>
        <p:spPr>
          <a:xfrm rot="10800000" flipH="1">
            <a:off x="16559530" y="6131560"/>
            <a:ext cx="14234795" cy="1542415"/>
          </a:xfrm>
          <a:prstGeom prst="bentConnector4">
            <a:avLst>
              <a:gd name="adj1" fmla="val -1449"/>
              <a:gd name="adj2" fmla="val 15619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30459680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</a:t>
            </a:r>
            <a:endParaRPr lang="en-US" altLang="zh-CN" sz="3200">
              <a:latin typeface="+mn-ea"/>
            </a:endParaRPr>
          </a:p>
        </p:txBody>
      </p:sp>
      <p:cxnSp>
        <p:nvCxnSpPr>
          <p:cNvPr id="178" name="直接连接符 177"/>
          <p:cNvCxnSpPr>
            <a:stCxn id="158" idx="3"/>
            <a:endCxn id="177" idx="1"/>
          </p:cNvCxnSpPr>
          <p:nvPr/>
        </p:nvCxnSpPr>
        <p:spPr>
          <a:xfrm>
            <a:off x="28387675" y="6424295"/>
            <a:ext cx="20720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文本框 178"/>
          <p:cNvSpPr txBox="1"/>
          <p:nvPr/>
        </p:nvSpPr>
        <p:spPr>
          <a:xfrm>
            <a:off x="28752165" y="6132195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cls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9786600" y="6132195"/>
            <a:ext cx="124396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+mn-ea"/>
              </a:rPr>
              <a:t>L</a:t>
            </a:r>
            <a:r>
              <a:rPr lang="en-US" altLang="zh-CN" sz="3200" baseline="-25000">
                <a:solidFill>
                  <a:schemeClr val="tx1"/>
                </a:solidFill>
                <a:latin typeface="+mn-ea"/>
              </a:rPr>
              <a:t>con</a:t>
            </a:r>
            <a:endParaRPr lang="en-US" altLang="zh-CN" sz="3200" baseline="-250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1" name="肘形连接符 180"/>
          <p:cNvCxnSpPr>
            <a:stCxn id="152" idx="1"/>
            <a:endCxn id="180" idx="1"/>
          </p:cNvCxnSpPr>
          <p:nvPr/>
        </p:nvCxnSpPr>
        <p:spPr>
          <a:xfrm rot="10800000" flipH="1">
            <a:off x="19004915" y="6424295"/>
            <a:ext cx="781685" cy="1252220"/>
          </a:xfrm>
          <a:prstGeom prst="bentConnector3">
            <a:avLst>
              <a:gd name="adj1" fmla="val -8285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3" name="左中括号 182"/>
          <p:cNvSpPr/>
          <p:nvPr/>
        </p:nvSpPr>
        <p:spPr>
          <a:xfrm rot="2460000" flipH="1" flipV="1">
            <a:off x="21056600" y="835279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左中括号 183"/>
          <p:cNvSpPr/>
          <p:nvPr/>
        </p:nvSpPr>
        <p:spPr>
          <a:xfrm rot="2460000">
            <a:off x="25639395" y="822960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5" name="直接箭头连接符 184"/>
          <p:cNvCxnSpPr/>
          <p:nvPr/>
        </p:nvCxnSpPr>
        <p:spPr>
          <a:xfrm>
            <a:off x="25135840" y="8676640"/>
            <a:ext cx="431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14197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Raw embeddings</a:t>
            </a:r>
            <a:endParaRPr lang="en-US" altLang="zh-CN" b="1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345120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Adjusted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844738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Encoded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241423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Fused embeddings</a:t>
            </a:r>
            <a:endParaRPr lang="en-US" altLang="zh-CN" b="1">
              <a:latin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2790126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Reconstructed embeddings​</a:t>
            </a:r>
            <a:endParaRPr lang="en-US" altLang="zh-CN" b="1">
              <a:latin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489440" y="1107821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</a:t>
            </a:r>
            <a:endParaRPr lang="en-US" altLang="zh-CN" sz="3200">
              <a:latin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9101415" y="11078210"/>
            <a:ext cx="96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X’</a:t>
            </a:r>
            <a:endParaRPr lang="en-US" altLang="zh-CN" sz="3200">
              <a:latin typeface="+mn-ea"/>
            </a:endParaRPr>
          </a:p>
        </p:txBody>
      </p:sp>
      <p:cxnSp>
        <p:nvCxnSpPr>
          <p:cNvPr id="193" name="直接连接符 192"/>
          <p:cNvCxnSpPr>
            <a:stCxn id="191" idx="3"/>
            <a:endCxn id="192" idx="1"/>
          </p:cNvCxnSpPr>
          <p:nvPr/>
        </p:nvCxnSpPr>
        <p:spPr>
          <a:xfrm>
            <a:off x="10160000" y="11370310"/>
            <a:ext cx="189414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26166445" y="1107821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rec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116393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Adapters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6694468" y="6715760"/>
            <a:ext cx="266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Encoders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055241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Fuser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501138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Decoders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051935" y="5309235"/>
            <a:ext cx="11666855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n-ea"/>
              </a:rPr>
              <a:t>RepGene Model Architecture Diagram with Data Flow</a:t>
            </a:r>
            <a:endParaRPr lang="en-US" altLang="zh-CN" sz="3200">
              <a:latin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05193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full</a:t>
            </a:r>
            <a:r>
              <a:rPr lang="en-US" altLang="zh-CN" sz="3200">
                <a:latin typeface="+mn-ea"/>
              </a:rPr>
              <a:t> = 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 + λ</a:t>
            </a:r>
            <a:r>
              <a:rPr lang="en-US" altLang="zh-CN" sz="3200" baseline="-25000">
                <a:latin typeface="+mn-ea"/>
                <a:sym typeface="+mn-ea"/>
              </a:rPr>
              <a:t>1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cls </a:t>
            </a:r>
            <a:r>
              <a:rPr lang="en-US" altLang="zh-CN" sz="3200">
                <a:latin typeface="+mn-ea"/>
                <a:sym typeface="+mn-ea"/>
              </a:rPr>
              <a:t>+ λ</a:t>
            </a:r>
            <a:r>
              <a:rPr lang="en-US" altLang="zh-CN" sz="3200" baseline="-25000">
                <a:latin typeface="+mn-ea"/>
                <a:sym typeface="+mn-ea"/>
              </a:rPr>
              <a:t>2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rec </a:t>
            </a:r>
            <a:endParaRPr lang="en-US" altLang="zh-CN" sz="3200">
              <a:latin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2544762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3200">
                <a:latin typeface="+mn-ea"/>
              </a:rPr>
              <a:t>2025-10-10</a:t>
            </a:r>
            <a:endParaRPr lang="en-US" altLang="zh-CN" sz="320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1935" y="7084060"/>
            <a:ext cx="321564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</a:rPr>
              <a:t>Genomic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Transcriptomic</a:t>
            </a:r>
            <a:endParaRPr lang="en-US" altLang="zh-CN" b="1">
              <a:latin typeface="+mn-ea"/>
              <a:sym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Proteomic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Text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Single-cell Transcriptomic</a:t>
            </a:r>
            <a:endParaRPr lang="en-US" altLang="zh-CN" b="1">
              <a:latin typeface="+mn-ea"/>
            </a:endParaRPr>
          </a:p>
        </p:txBody>
      </p:sp>
      <p:sp>
        <p:nvSpPr>
          <p:cNvPr id="3" name="左中括号 2"/>
          <p:cNvSpPr/>
          <p:nvPr/>
        </p:nvSpPr>
        <p:spPr>
          <a:xfrm rot="2460000">
            <a:off x="8144510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中括号 5"/>
          <p:cNvSpPr/>
          <p:nvPr/>
        </p:nvSpPr>
        <p:spPr>
          <a:xfrm flipH="1">
            <a:off x="7280910" y="7382510"/>
            <a:ext cx="123825" cy="252000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曲线连接符 13"/>
          <p:cNvCxnSpPr>
            <a:stCxn id="6" idx="1"/>
            <a:endCxn id="3" idx="1"/>
          </p:cNvCxnSpPr>
          <p:nvPr/>
        </p:nvCxnSpPr>
        <p:spPr>
          <a:xfrm flipV="1">
            <a:off x="7404735" y="7674610"/>
            <a:ext cx="755015" cy="968375"/>
          </a:xfrm>
          <a:prstGeom prst="curvedConnector3">
            <a:avLst>
              <a:gd name="adj1" fmla="val 3322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97700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Modals</a:t>
            </a:r>
            <a:endParaRPr lang="en-US" altLang="zh-CN" b="1"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62440" y="12098655"/>
            <a:ext cx="5825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Phase 1</a:t>
            </a:r>
            <a:r>
              <a:rPr lang="zh-CN" altLang="en-US" sz="3200">
                <a:latin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, Phase 2</a:t>
            </a:r>
            <a:r>
              <a:rPr lang="zh-CN" altLang="en-US" sz="3200">
                <a:latin typeface="+mn-ea"/>
                <a:sym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full</a:t>
            </a:r>
            <a:endParaRPr lang="zh-CN" altLang="en-US" sz="3200">
              <a:latin typeface="+mn-ea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27901265" y="7506018"/>
            <a:ext cx="3364865" cy="2341245"/>
            <a:chOff x="2652" y="12437"/>
            <a:chExt cx="5299" cy="3687"/>
          </a:xfrm>
        </p:grpSpPr>
        <p:sp>
          <p:nvSpPr>
            <p:cNvPr id="50" name="矩形 49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23686453" y="539559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Classification head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 rot="0">
            <a:off x="8141970" y="7505700"/>
            <a:ext cx="3364865" cy="2341245"/>
            <a:chOff x="2652" y="12437"/>
            <a:chExt cx="5299" cy="3687"/>
          </a:xfrm>
        </p:grpSpPr>
        <p:sp>
          <p:nvSpPr>
            <p:cNvPr id="4" name="矩形 3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 rot="0">
            <a:off x="11389360" y="7505700"/>
            <a:ext cx="541020" cy="2341245"/>
            <a:chOff x="12174" y="22678"/>
            <a:chExt cx="852" cy="3687"/>
          </a:xfrm>
        </p:grpSpPr>
        <p:sp>
          <p:nvSpPr>
            <p:cNvPr id="58" name="矩形 57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矩形 67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矩形 69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987135" y="7506018"/>
            <a:ext cx="2285365" cy="2341245"/>
            <a:chOff x="22130" y="11820"/>
            <a:chExt cx="3599" cy="3687"/>
          </a:xfrm>
        </p:grpSpPr>
        <p:sp>
          <p:nvSpPr>
            <p:cNvPr id="44" name="矩形 43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4" name="肘形连接符 153"/>
          <p:cNvCxnSpPr>
            <a:stCxn id="76" idx="0"/>
            <a:endCxn id="158" idx="1"/>
          </p:cNvCxnSpPr>
          <p:nvPr/>
        </p:nvCxnSpPr>
        <p:spPr>
          <a:xfrm rot="16200000">
            <a:off x="25230773" y="5290503"/>
            <a:ext cx="1352550" cy="362013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4052550" y="7505700"/>
            <a:ext cx="2285365" cy="2341245"/>
            <a:chOff x="22130" y="11820"/>
            <a:chExt cx="3599" cy="368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11703050" y="7505065"/>
            <a:ext cx="2287270" cy="2343150"/>
            <a:chOff x="17896" y="16751"/>
            <a:chExt cx="3602" cy="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梯形 1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梯形 27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30" name="直接箭头连接符 2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梯形 3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梯形 3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36" name="直接箭头连接符 35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梯形 36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3" name="直接箭头连接符 52"/>
          <p:cNvCxnSpPr/>
          <p:nvPr/>
        </p:nvCxnSpPr>
        <p:spPr>
          <a:xfrm>
            <a:off x="16311880" y="8676640"/>
            <a:ext cx="25203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梯形 53"/>
          <p:cNvSpPr/>
          <p:nvPr/>
        </p:nvSpPr>
        <p:spPr>
          <a:xfrm rot="5400000">
            <a:off x="16854805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/>
        </p:nvCxnSpPr>
        <p:spPr>
          <a:xfrm>
            <a:off x="21257895" y="8676640"/>
            <a:ext cx="1786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梯形 66"/>
          <p:cNvSpPr/>
          <p:nvPr/>
        </p:nvSpPr>
        <p:spPr>
          <a:xfrm rot="5400000">
            <a:off x="21064220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>
            <a:spLocks noChangeAspect="1"/>
          </p:cNvSpPr>
          <p:nvPr/>
        </p:nvSpPr>
        <p:spPr>
          <a:xfrm>
            <a:off x="23196550" y="7776845"/>
            <a:ext cx="1800225" cy="1799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 rot="0">
            <a:off x="25549225" y="7503795"/>
            <a:ext cx="2289810" cy="2345690"/>
            <a:chOff x="28718" y="11791"/>
            <a:chExt cx="3606" cy="369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29490" y="11791"/>
              <a:ext cx="2834" cy="2834"/>
              <a:chOff x="20079" y="23668"/>
              <a:chExt cx="2834" cy="2834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梯形 12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29297" y="12006"/>
              <a:ext cx="2834" cy="2834"/>
              <a:chOff x="20079" y="23668"/>
              <a:chExt cx="2834" cy="2834"/>
            </a:xfrm>
          </p:grpSpPr>
          <p:cxnSp>
            <p:nvCxnSpPr>
              <p:cNvPr id="127" name="直接箭头连接符 126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梯形 127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104" y="12221"/>
              <a:ext cx="2834" cy="2834"/>
              <a:chOff x="20079" y="23668"/>
              <a:chExt cx="2834" cy="2834"/>
            </a:xfrm>
          </p:grpSpPr>
          <p:cxnSp>
            <p:nvCxnSpPr>
              <p:cNvPr id="130" name="直接箭头连接符 129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1" name="梯形 130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8911" y="12436"/>
              <a:ext cx="2834" cy="2834"/>
              <a:chOff x="20079" y="23668"/>
              <a:chExt cx="2834" cy="2834"/>
            </a:xfrm>
          </p:grpSpPr>
          <p:cxnSp>
            <p:nvCxnSpPr>
              <p:cNvPr id="133" name="直接箭头连接符 13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梯形 13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28718" y="12651"/>
              <a:ext cx="2834" cy="2834"/>
              <a:chOff x="20079" y="23668"/>
              <a:chExt cx="2834" cy="2834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梯形 136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47" name="梯形 146"/>
          <p:cNvSpPr/>
          <p:nvPr/>
        </p:nvSpPr>
        <p:spPr>
          <a:xfrm rot="5400000">
            <a:off x="24829135" y="6243955"/>
            <a:ext cx="1080135" cy="360045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左中括号 151"/>
          <p:cNvSpPr/>
          <p:nvPr/>
        </p:nvSpPr>
        <p:spPr>
          <a:xfrm rot="2460000">
            <a:off x="18989675" y="733044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7717115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y’</a:t>
            </a:r>
            <a:endParaRPr lang="en-US" altLang="zh-CN" sz="3200">
              <a:latin typeface="+mn-ea"/>
            </a:endParaRPr>
          </a:p>
        </p:txBody>
      </p:sp>
      <p:grpSp>
        <p:nvGrpSpPr>
          <p:cNvPr id="173" name="组合 172"/>
          <p:cNvGrpSpPr/>
          <p:nvPr/>
        </p:nvGrpSpPr>
        <p:grpSpPr>
          <a:xfrm rot="0">
            <a:off x="16486505" y="7508240"/>
            <a:ext cx="541020" cy="2341245"/>
            <a:chOff x="12174" y="22678"/>
            <a:chExt cx="852" cy="3687"/>
          </a:xfrm>
        </p:grpSpPr>
        <p:sp>
          <p:nvSpPr>
            <p:cNvPr id="161" name="矩形 160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4" name="左中括号 173"/>
          <p:cNvSpPr/>
          <p:nvPr/>
        </p:nvSpPr>
        <p:spPr>
          <a:xfrm rot="2460000">
            <a:off x="1654492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6612235" y="539559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latin typeface="+mn-ea"/>
              </a:rPr>
              <a:t>Clustering labels</a:t>
            </a:r>
            <a:endParaRPr lang="en-US" altLang="zh-CN" b="1">
              <a:latin typeface="+mn-ea"/>
            </a:endParaRPr>
          </a:p>
        </p:txBody>
      </p:sp>
      <p:cxnSp>
        <p:nvCxnSpPr>
          <p:cNvPr id="176" name="肘形连接符 175"/>
          <p:cNvCxnSpPr>
            <a:stCxn id="174" idx="1"/>
            <a:endCxn id="177" idx="0"/>
          </p:cNvCxnSpPr>
          <p:nvPr/>
        </p:nvCxnSpPr>
        <p:spPr>
          <a:xfrm rot="10800000" flipH="1">
            <a:off x="16560165" y="6132195"/>
            <a:ext cx="14234795" cy="1542415"/>
          </a:xfrm>
          <a:prstGeom prst="bentConnector4">
            <a:avLst>
              <a:gd name="adj1" fmla="val -1342"/>
              <a:gd name="adj2" fmla="val 153396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30459680" y="6132195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</a:t>
            </a:r>
            <a:endParaRPr lang="en-US" altLang="zh-CN" sz="3200">
              <a:latin typeface="+mn-ea"/>
            </a:endParaRPr>
          </a:p>
        </p:txBody>
      </p:sp>
      <p:cxnSp>
        <p:nvCxnSpPr>
          <p:cNvPr id="178" name="直接连接符 177"/>
          <p:cNvCxnSpPr>
            <a:stCxn id="158" idx="3"/>
            <a:endCxn id="177" idx="1"/>
          </p:cNvCxnSpPr>
          <p:nvPr/>
        </p:nvCxnSpPr>
        <p:spPr>
          <a:xfrm>
            <a:off x="28387675" y="6424295"/>
            <a:ext cx="20720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文本框 178"/>
          <p:cNvSpPr txBox="1"/>
          <p:nvPr/>
        </p:nvSpPr>
        <p:spPr>
          <a:xfrm>
            <a:off x="28752165" y="6132195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cls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9786600" y="6132195"/>
            <a:ext cx="124396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+mn-ea"/>
              </a:rPr>
              <a:t>L</a:t>
            </a:r>
            <a:r>
              <a:rPr lang="en-US" altLang="zh-CN" sz="3200" baseline="-25000">
                <a:solidFill>
                  <a:schemeClr val="tx1"/>
                </a:solidFill>
                <a:latin typeface="+mn-ea"/>
              </a:rPr>
              <a:t>con</a:t>
            </a:r>
            <a:endParaRPr lang="en-US" altLang="zh-CN" sz="3200" baseline="-250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1" name="肘形连接符 180"/>
          <p:cNvCxnSpPr>
            <a:stCxn id="152" idx="1"/>
            <a:endCxn id="180" idx="1"/>
          </p:cNvCxnSpPr>
          <p:nvPr/>
        </p:nvCxnSpPr>
        <p:spPr>
          <a:xfrm rot="10800000" flipH="1">
            <a:off x="19004915" y="6424295"/>
            <a:ext cx="781685" cy="1252220"/>
          </a:xfrm>
          <a:prstGeom prst="bentConnector3">
            <a:avLst>
              <a:gd name="adj1" fmla="val -8285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2" name="左中括号 181"/>
          <p:cNvSpPr/>
          <p:nvPr/>
        </p:nvSpPr>
        <p:spPr>
          <a:xfrm rot="2460000" flipH="1" flipV="1">
            <a:off x="16124555" y="835088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3" name="左中括号 182"/>
          <p:cNvSpPr/>
          <p:nvPr/>
        </p:nvSpPr>
        <p:spPr>
          <a:xfrm rot="2460000" flipH="1" flipV="1">
            <a:off x="21056600" y="835279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左中括号 183"/>
          <p:cNvSpPr/>
          <p:nvPr/>
        </p:nvSpPr>
        <p:spPr>
          <a:xfrm rot="2460000">
            <a:off x="25639395" y="822960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5" name="直接箭头连接符 184"/>
          <p:cNvCxnSpPr/>
          <p:nvPr/>
        </p:nvCxnSpPr>
        <p:spPr>
          <a:xfrm>
            <a:off x="25135840" y="8676640"/>
            <a:ext cx="431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14197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Raw embeddings</a:t>
            </a:r>
            <a:endParaRPr lang="en-US" altLang="zh-CN" b="1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351280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Adjusted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844738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Encoded embeddings</a:t>
            </a:r>
            <a:endParaRPr lang="en-US" altLang="zh-CN" b="1">
              <a:latin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241423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Fused embeddings</a:t>
            </a:r>
            <a:endParaRPr lang="en-US" altLang="zh-CN" b="1">
              <a:latin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2790126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Reconstructed embeddings​</a:t>
            </a:r>
            <a:endParaRPr lang="en-US" altLang="zh-CN" b="1">
              <a:latin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489440" y="1107821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</a:t>
            </a:r>
            <a:endParaRPr lang="en-US" altLang="zh-CN" sz="3200">
              <a:latin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9101415" y="11078210"/>
            <a:ext cx="96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X’</a:t>
            </a:r>
            <a:endParaRPr lang="en-US" altLang="zh-CN" sz="3200">
              <a:latin typeface="+mn-ea"/>
            </a:endParaRPr>
          </a:p>
        </p:txBody>
      </p:sp>
      <p:cxnSp>
        <p:nvCxnSpPr>
          <p:cNvPr id="193" name="直接连接符 192"/>
          <p:cNvCxnSpPr>
            <a:stCxn id="191" idx="3"/>
            <a:endCxn id="192" idx="1"/>
          </p:cNvCxnSpPr>
          <p:nvPr/>
        </p:nvCxnSpPr>
        <p:spPr>
          <a:xfrm>
            <a:off x="10160000" y="11370310"/>
            <a:ext cx="189414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26166445" y="1107821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rec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116393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Adapters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6694468" y="6715760"/>
            <a:ext cx="266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Share encoder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055241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Fuser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501138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Decoders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051935" y="5309235"/>
            <a:ext cx="11666855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n-ea"/>
              </a:rPr>
              <a:t>RepGene Model Architecture Diagram with Data Flow</a:t>
            </a:r>
            <a:endParaRPr lang="en-US" altLang="zh-CN" sz="3200">
              <a:latin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05193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full</a:t>
            </a:r>
            <a:r>
              <a:rPr lang="en-US" altLang="zh-CN" sz="3200">
                <a:latin typeface="+mn-ea"/>
              </a:rPr>
              <a:t> = 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 + λ</a:t>
            </a:r>
            <a:r>
              <a:rPr lang="en-US" altLang="zh-CN" sz="3200" baseline="-25000">
                <a:latin typeface="+mn-ea"/>
                <a:sym typeface="+mn-ea"/>
              </a:rPr>
              <a:t>1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cls </a:t>
            </a:r>
            <a:r>
              <a:rPr lang="en-US" altLang="zh-CN" sz="3200">
                <a:latin typeface="+mn-ea"/>
                <a:sym typeface="+mn-ea"/>
              </a:rPr>
              <a:t>+ λ</a:t>
            </a:r>
            <a:r>
              <a:rPr lang="en-US" altLang="zh-CN" sz="3200" baseline="-25000">
                <a:latin typeface="+mn-ea"/>
                <a:sym typeface="+mn-ea"/>
              </a:rPr>
              <a:t>2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rec </a:t>
            </a:r>
            <a:endParaRPr lang="en-US" altLang="zh-CN" sz="3200">
              <a:latin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25447625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3200">
                <a:latin typeface="+mn-ea"/>
              </a:rPr>
              <a:t>2025-10-10 V10</a:t>
            </a:r>
            <a:endParaRPr lang="en-US" altLang="zh-CN" sz="320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1935" y="7084060"/>
            <a:ext cx="321564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</a:rPr>
              <a:t>Genomic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Transcriptomic</a:t>
            </a:r>
            <a:endParaRPr lang="en-US" altLang="zh-CN" b="1">
              <a:latin typeface="+mn-ea"/>
              <a:sym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Proteomic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Text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Single-cell Transcriptomic</a:t>
            </a:r>
            <a:endParaRPr lang="en-US" altLang="zh-CN" b="1">
              <a:latin typeface="+mn-ea"/>
            </a:endParaRPr>
          </a:p>
        </p:txBody>
      </p:sp>
      <p:sp>
        <p:nvSpPr>
          <p:cNvPr id="3" name="左中括号 2"/>
          <p:cNvSpPr/>
          <p:nvPr/>
        </p:nvSpPr>
        <p:spPr>
          <a:xfrm rot="2460000">
            <a:off x="8144510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中括号 5"/>
          <p:cNvSpPr/>
          <p:nvPr/>
        </p:nvSpPr>
        <p:spPr>
          <a:xfrm flipH="1">
            <a:off x="7280910" y="7382510"/>
            <a:ext cx="123825" cy="252000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曲线连接符 13"/>
          <p:cNvCxnSpPr>
            <a:stCxn id="6" idx="1"/>
            <a:endCxn id="3" idx="1"/>
          </p:cNvCxnSpPr>
          <p:nvPr/>
        </p:nvCxnSpPr>
        <p:spPr>
          <a:xfrm flipV="1">
            <a:off x="7404735" y="7674610"/>
            <a:ext cx="755015" cy="968375"/>
          </a:xfrm>
          <a:prstGeom prst="curvedConnector3">
            <a:avLst>
              <a:gd name="adj1" fmla="val 3322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97700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Modals</a:t>
            </a:r>
            <a:endParaRPr lang="en-US" altLang="zh-CN" b="1"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62440" y="12098655"/>
            <a:ext cx="5825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Phase 1</a:t>
            </a:r>
            <a:r>
              <a:rPr lang="zh-CN" altLang="en-US" sz="3200">
                <a:latin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, Phase 2</a:t>
            </a:r>
            <a:r>
              <a:rPr lang="zh-CN" altLang="en-US" sz="3200">
                <a:latin typeface="+mn-ea"/>
                <a:sym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full</a:t>
            </a:r>
            <a:endParaRPr lang="zh-CN" altLang="en-US" sz="3200">
              <a:latin typeface="+mn-ea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27901265" y="7506018"/>
            <a:ext cx="3364865" cy="2341245"/>
            <a:chOff x="2652" y="12437"/>
            <a:chExt cx="5299" cy="3687"/>
          </a:xfrm>
        </p:grpSpPr>
        <p:sp>
          <p:nvSpPr>
            <p:cNvPr id="50" name="矩形 49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23686453" y="539559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91ACE0"/>
                </a:solidFill>
                <a:latin typeface="+mn-ea"/>
              </a:rPr>
              <a:t>Classification head</a:t>
            </a:r>
            <a:endParaRPr lang="en-US" altLang="zh-CN" b="1">
              <a:solidFill>
                <a:srgbClr val="91ACE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" name="组合 42"/>
          <p:cNvGrpSpPr/>
          <p:nvPr/>
        </p:nvGrpSpPr>
        <p:grpSpPr>
          <a:xfrm>
            <a:off x="18987135" y="7506018"/>
            <a:ext cx="2285365" cy="2341245"/>
            <a:chOff x="22130" y="11820"/>
            <a:chExt cx="3599" cy="3687"/>
          </a:xfrm>
        </p:grpSpPr>
        <p:sp>
          <p:nvSpPr>
            <p:cNvPr id="44" name="矩形 43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4" name="肘形连接符 153"/>
          <p:cNvCxnSpPr>
            <a:endCxn id="158" idx="1"/>
          </p:cNvCxnSpPr>
          <p:nvPr/>
        </p:nvCxnSpPr>
        <p:spPr>
          <a:xfrm flipV="1">
            <a:off x="24092535" y="5713730"/>
            <a:ext cx="3138170" cy="1903095"/>
          </a:xfrm>
          <a:prstGeom prst="bentConnector3">
            <a:avLst>
              <a:gd name="adj1" fmla="val 36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 rot="0">
            <a:off x="8275955" y="7505700"/>
            <a:ext cx="3364865" cy="2341245"/>
            <a:chOff x="2652" y="12437"/>
            <a:chExt cx="5299" cy="3687"/>
          </a:xfrm>
        </p:grpSpPr>
        <p:sp>
          <p:nvSpPr>
            <p:cNvPr id="4" name="矩形 3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052550" y="7505700"/>
            <a:ext cx="2285365" cy="2341245"/>
            <a:chOff x="22130" y="11820"/>
            <a:chExt cx="3599" cy="368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2895" y="11820"/>
              <a:ext cx="2835" cy="28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22704" y="12034"/>
              <a:ext cx="2835" cy="28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22513" y="12247"/>
              <a:ext cx="2835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2322" y="12460"/>
              <a:ext cx="2835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22130" y="12673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11703050" y="7505065"/>
            <a:ext cx="2287270" cy="2343150"/>
            <a:chOff x="17896" y="16751"/>
            <a:chExt cx="3602" cy="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梯形 1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梯形 27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30" name="直接箭头连接符 2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梯形 3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梯形 3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36" name="直接箭头连接符 35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梯形 36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3" name="直接箭头连接符 52"/>
          <p:cNvCxnSpPr/>
          <p:nvPr/>
        </p:nvCxnSpPr>
        <p:spPr>
          <a:xfrm>
            <a:off x="16311880" y="8676640"/>
            <a:ext cx="25203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梯形 53"/>
          <p:cNvSpPr/>
          <p:nvPr/>
        </p:nvSpPr>
        <p:spPr>
          <a:xfrm rot="5400000">
            <a:off x="16854805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/>
        </p:nvCxnSpPr>
        <p:spPr>
          <a:xfrm>
            <a:off x="21257895" y="8676640"/>
            <a:ext cx="1786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梯形 66"/>
          <p:cNvSpPr/>
          <p:nvPr/>
        </p:nvSpPr>
        <p:spPr>
          <a:xfrm rot="5400000">
            <a:off x="21064220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>
            <a:spLocks noChangeAspect="1"/>
          </p:cNvSpPr>
          <p:nvPr/>
        </p:nvSpPr>
        <p:spPr>
          <a:xfrm>
            <a:off x="23196550" y="7776845"/>
            <a:ext cx="1800225" cy="1799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 rot="0">
            <a:off x="25549225" y="7503795"/>
            <a:ext cx="2289810" cy="2345690"/>
            <a:chOff x="28718" y="11791"/>
            <a:chExt cx="3606" cy="369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29490" y="11791"/>
              <a:ext cx="2834" cy="2834"/>
              <a:chOff x="20079" y="23668"/>
              <a:chExt cx="2834" cy="2834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梯形 12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29297" y="12006"/>
              <a:ext cx="2834" cy="2834"/>
              <a:chOff x="20079" y="23668"/>
              <a:chExt cx="2834" cy="2834"/>
            </a:xfrm>
          </p:grpSpPr>
          <p:cxnSp>
            <p:nvCxnSpPr>
              <p:cNvPr id="127" name="直接箭头连接符 126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梯形 127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104" y="12221"/>
              <a:ext cx="2834" cy="2834"/>
              <a:chOff x="20079" y="23668"/>
              <a:chExt cx="2834" cy="2834"/>
            </a:xfrm>
          </p:grpSpPr>
          <p:cxnSp>
            <p:nvCxnSpPr>
              <p:cNvPr id="130" name="直接箭头连接符 129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1" name="梯形 130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8911" y="12436"/>
              <a:ext cx="2834" cy="2834"/>
              <a:chOff x="20079" y="23668"/>
              <a:chExt cx="2834" cy="2834"/>
            </a:xfrm>
          </p:grpSpPr>
          <p:cxnSp>
            <p:nvCxnSpPr>
              <p:cNvPr id="133" name="直接箭头连接符 13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梯形 13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28718" y="12651"/>
              <a:ext cx="2834" cy="2834"/>
              <a:chOff x="20079" y="23668"/>
              <a:chExt cx="2834" cy="2834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梯形 136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47" name="梯形 146"/>
          <p:cNvSpPr/>
          <p:nvPr/>
        </p:nvSpPr>
        <p:spPr>
          <a:xfrm rot="5400000">
            <a:off x="26103580" y="5533390"/>
            <a:ext cx="1080135" cy="360045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左中括号 151"/>
          <p:cNvSpPr/>
          <p:nvPr/>
        </p:nvSpPr>
        <p:spPr>
          <a:xfrm rot="2460000">
            <a:off x="18989675" y="733044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7230705" y="542163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y’</a:t>
            </a:r>
            <a:endParaRPr lang="en-US" altLang="zh-CN" sz="3200">
              <a:latin typeface="+mn-ea"/>
            </a:endParaRPr>
          </a:p>
        </p:txBody>
      </p:sp>
      <p:grpSp>
        <p:nvGrpSpPr>
          <p:cNvPr id="173" name="组合 172"/>
          <p:cNvGrpSpPr/>
          <p:nvPr/>
        </p:nvGrpSpPr>
        <p:grpSpPr>
          <a:xfrm rot="0">
            <a:off x="16486505" y="7508240"/>
            <a:ext cx="541020" cy="2341245"/>
            <a:chOff x="12174" y="22678"/>
            <a:chExt cx="852" cy="3687"/>
          </a:xfrm>
        </p:grpSpPr>
        <p:sp>
          <p:nvSpPr>
            <p:cNvPr id="161" name="矩形 160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4" name="左中括号 173"/>
          <p:cNvSpPr/>
          <p:nvPr/>
        </p:nvSpPr>
        <p:spPr>
          <a:xfrm rot="2460000">
            <a:off x="1654492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6438880" y="505396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latin typeface="+mn-ea"/>
              </a:rPr>
              <a:t>Clustering labels</a:t>
            </a:r>
            <a:endParaRPr lang="en-US" altLang="zh-CN">
              <a:latin typeface="+mn-ea"/>
            </a:endParaRPr>
          </a:p>
        </p:txBody>
      </p:sp>
      <p:cxnSp>
        <p:nvCxnSpPr>
          <p:cNvPr id="176" name="肘形连接符 175"/>
          <p:cNvCxnSpPr>
            <a:stCxn id="174" idx="1"/>
            <a:endCxn id="177" idx="0"/>
          </p:cNvCxnSpPr>
          <p:nvPr/>
        </p:nvCxnSpPr>
        <p:spPr>
          <a:xfrm rot="10800000" flipH="1">
            <a:off x="16560165" y="5421630"/>
            <a:ext cx="14234795" cy="2252980"/>
          </a:xfrm>
          <a:prstGeom prst="bentConnector4">
            <a:avLst>
              <a:gd name="adj1" fmla="val -1026"/>
              <a:gd name="adj2" fmla="val 11761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30459680" y="542163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</a:t>
            </a:r>
            <a:endParaRPr lang="en-US" altLang="zh-CN" sz="3200">
              <a:latin typeface="+mn-ea"/>
            </a:endParaRPr>
          </a:p>
        </p:txBody>
      </p:sp>
      <p:cxnSp>
        <p:nvCxnSpPr>
          <p:cNvPr id="178" name="直接连接符 177"/>
          <p:cNvCxnSpPr>
            <a:stCxn id="158" idx="3"/>
            <a:endCxn id="177" idx="1"/>
          </p:cNvCxnSpPr>
          <p:nvPr/>
        </p:nvCxnSpPr>
        <p:spPr>
          <a:xfrm>
            <a:off x="27901265" y="5713730"/>
            <a:ext cx="25584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文本框 178"/>
          <p:cNvSpPr txBox="1"/>
          <p:nvPr/>
        </p:nvSpPr>
        <p:spPr>
          <a:xfrm>
            <a:off x="28265755" y="542163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cls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9786600" y="5422265"/>
            <a:ext cx="124396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con</a:t>
            </a:r>
            <a:endParaRPr lang="en-US" altLang="zh-CN" sz="3200" baseline="-25000">
              <a:latin typeface="+mn-ea"/>
            </a:endParaRPr>
          </a:p>
        </p:txBody>
      </p:sp>
      <p:cxnSp>
        <p:nvCxnSpPr>
          <p:cNvPr id="181" name="肘形连接符 180"/>
          <p:cNvCxnSpPr>
            <a:stCxn id="152" idx="1"/>
            <a:endCxn id="180" idx="1"/>
          </p:cNvCxnSpPr>
          <p:nvPr/>
        </p:nvCxnSpPr>
        <p:spPr>
          <a:xfrm rot="10800000" flipH="1">
            <a:off x="19004915" y="5714365"/>
            <a:ext cx="781685" cy="1962150"/>
          </a:xfrm>
          <a:prstGeom prst="bentConnector3">
            <a:avLst>
              <a:gd name="adj1" fmla="val -1129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2" name="左中括号 181"/>
          <p:cNvSpPr/>
          <p:nvPr/>
        </p:nvSpPr>
        <p:spPr>
          <a:xfrm rot="2460000" flipH="1" flipV="1">
            <a:off x="16124555" y="835088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3" name="左中括号 182"/>
          <p:cNvSpPr/>
          <p:nvPr/>
        </p:nvSpPr>
        <p:spPr>
          <a:xfrm rot="2460000" flipH="1" flipV="1">
            <a:off x="21056600" y="835279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左中括号 183"/>
          <p:cNvSpPr/>
          <p:nvPr/>
        </p:nvSpPr>
        <p:spPr>
          <a:xfrm rot="2460000">
            <a:off x="25639395" y="822960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5" name="直接箭头连接符 184"/>
          <p:cNvCxnSpPr/>
          <p:nvPr/>
        </p:nvCxnSpPr>
        <p:spPr>
          <a:xfrm>
            <a:off x="25135840" y="8676640"/>
            <a:ext cx="431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27595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Raw embeddings</a:t>
            </a:r>
            <a:endParaRPr lang="en-US" altLang="zh-CN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351280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Adjusted embeddings</a:t>
            </a:r>
            <a:endParaRPr lang="en-US" altLang="zh-CN">
              <a:latin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844738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Encoded embeddings</a:t>
            </a:r>
            <a:endParaRPr lang="en-US" altLang="zh-CN">
              <a:latin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241423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Fused embeddings</a:t>
            </a:r>
            <a:endParaRPr lang="en-US" altLang="zh-CN" b="1">
              <a:latin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2790126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Reconstructed embeddings​</a:t>
            </a:r>
            <a:endParaRPr lang="en-US" altLang="zh-CN">
              <a:latin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623425" y="1107821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</a:t>
            </a:r>
            <a:endParaRPr lang="en-US" altLang="zh-CN" sz="3200">
              <a:latin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9101415" y="11078210"/>
            <a:ext cx="96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X’</a:t>
            </a:r>
            <a:endParaRPr lang="en-US" altLang="zh-CN" sz="3200">
              <a:latin typeface="+mn-ea"/>
            </a:endParaRPr>
          </a:p>
        </p:txBody>
      </p:sp>
      <p:cxnSp>
        <p:nvCxnSpPr>
          <p:cNvPr id="193" name="直接连接符 192"/>
          <p:cNvCxnSpPr>
            <a:stCxn id="191" idx="3"/>
            <a:endCxn id="192" idx="1"/>
          </p:cNvCxnSpPr>
          <p:nvPr/>
        </p:nvCxnSpPr>
        <p:spPr>
          <a:xfrm>
            <a:off x="10293985" y="11369675"/>
            <a:ext cx="1880743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26166445" y="1107821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rec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116393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Adapters</a:t>
            </a:r>
            <a:endParaRPr lang="en-US" altLang="zh-CN">
              <a:latin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634299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Share encoder</a:t>
            </a:r>
            <a:endParaRPr lang="en-US" altLang="zh-CN"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055241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Fuser</a:t>
            </a:r>
            <a:endParaRPr lang="en-US" altLang="zh-CN">
              <a:latin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501138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Decoders</a:t>
            </a:r>
            <a:endParaRPr lang="en-US" altLang="zh-CN">
              <a:latin typeface="+mn-ea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185920" y="5053965"/>
            <a:ext cx="11666855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n-ea"/>
              </a:rPr>
              <a:t>RepGene Model Architecture Diagram with Data Flow</a:t>
            </a:r>
            <a:endParaRPr lang="en-US" altLang="zh-CN" sz="3200">
              <a:latin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185920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L = 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 + λ</a:t>
            </a:r>
            <a:r>
              <a:rPr lang="en-US" altLang="zh-CN" sz="3200" baseline="-25000">
                <a:latin typeface="+mn-ea"/>
                <a:sym typeface="+mn-ea"/>
              </a:rPr>
              <a:t>1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cls </a:t>
            </a:r>
            <a:r>
              <a:rPr lang="en-US" altLang="zh-CN" sz="3200">
                <a:latin typeface="+mn-ea"/>
                <a:sym typeface="+mn-ea"/>
              </a:rPr>
              <a:t>+ λ</a:t>
            </a:r>
            <a:r>
              <a:rPr lang="en-US" altLang="zh-CN" sz="3200" baseline="-25000">
                <a:latin typeface="+mn-ea"/>
                <a:sym typeface="+mn-ea"/>
              </a:rPr>
              <a:t>2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rec </a:t>
            </a:r>
            <a:endParaRPr lang="en-US" altLang="zh-CN" sz="3200">
              <a:latin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25448260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3200">
                <a:latin typeface="+mn-ea"/>
              </a:rPr>
              <a:t>2025-10-10 V10</a:t>
            </a:r>
            <a:endParaRPr lang="en-US" altLang="zh-CN" sz="320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85920" y="7084060"/>
            <a:ext cx="321564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</a:rPr>
              <a:t>Genomic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Transcriptomic</a:t>
            </a:r>
            <a:endParaRPr lang="en-US" altLang="zh-CN" b="1">
              <a:latin typeface="+mn-ea"/>
              <a:sym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Proteomic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Text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Single-cell Transcriptomic</a:t>
            </a:r>
            <a:endParaRPr lang="en-US" altLang="zh-CN" b="1">
              <a:latin typeface="+mn-ea"/>
            </a:endParaRPr>
          </a:p>
        </p:txBody>
      </p:sp>
      <p:sp>
        <p:nvSpPr>
          <p:cNvPr id="3" name="左中括号 2"/>
          <p:cNvSpPr/>
          <p:nvPr/>
        </p:nvSpPr>
        <p:spPr>
          <a:xfrm rot="2460000">
            <a:off x="827849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中括号 5"/>
          <p:cNvSpPr/>
          <p:nvPr/>
        </p:nvSpPr>
        <p:spPr>
          <a:xfrm flipH="1">
            <a:off x="7414895" y="7382510"/>
            <a:ext cx="123825" cy="252000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曲线连接符 13"/>
          <p:cNvCxnSpPr>
            <a:stCxn id="6" idx="1"/>
            <a:endCxn id="3" idx="1"/>
          </p:cNvCxnSpPr>
          <p:nvPr/>
        </p:nvCxnSpPr>
        <p:spPr>
          <a:xfrm flipV="1">
            <a:off x="7538720" y="7674610"/>
            <a:ext cx="755015" cy="968375"/>
          </a:xfrm>
          <a:prstGeom prst="curvedConnector3">
            <a:avLst>
              <a:gd name="adj1" fmla="val 3322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1099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Modals</a:t>
            </a:r>
            <a:endParaRPr lang="en-US" altLang="zh-CN"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62440" y="12098655"/>
            <a:ext cx="5825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Phase 1</a:t>
            </a:r>
            <a:r>
              <a:rPr lang="zh-CN" altLang="en-US" sz="3200">
                <a:latin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, </a:t>
            </a:r>
            <a:r>
              <a:rPr lang="en-US" altLang="zh-CN" sz="3200">
                <a:latin typeface="+mn-ea"/>
                <a:sym typeface="+mn-ea"/>
              </a:rPr>
              <a:t>Phase 2</a:t>
            </a:r>
            <a:r>
              <a:rPr lang="zh-CN" altLang="en-US" sz="3200">
                <a:latin typeface="+mn-ea"/>
                <a:sym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endParaRPr lang="zh-CN" altLang="en-US" sz="3200">
              <a:latin typeface="+mn-ea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27901265" y="7506018"/>
            <a:ext cx="3364865" cy="2341245"/>
            <a:chOff x="2652" y="12437"/>
            <a:chExt cx="5299" cy="3687"/>
          </a:xfrm>
        </p:grpSpPr>
        <p:sp>
          <p:nvSpPr>
            <p:cNvPr id="50" name="矩形 49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54" name="肘形连接符 153"/>
          <p:cNvCxnSpPr>
            <a:endCxn id="158" idx="1"/>
          </p:cNvCxnSpPr>
          <p:nvPr/>
        </p:nvCxnSpPr>
        <p:spPr>
          <a:xfrm flipV="1">
            <a:off x="24092535" y="5713730"/>
            <a:ext cx="3138170" cy="1903095"/>
          </a:xfrm>
          <a:prstGeom prst="bentConnector3">
            <a:avLst>
              <a:gd name="adj1" fmla="val 36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 rot="0">
            <a:off x="8275955" y="7505700"/>
            <a:ext cx="3364865" cy="2341245"/>
            <a:chOff x="2652" y="12437"/>
            <a:chExt cx="5299" cy="3687"/>
          </a:xfrm>
        </p:grpSpPr>
        <p:sp>
          <p:nvSpPr>
            <p:cNvPr id="4" name="矩形 3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14052550" y="7505700"/>
            <a:ext cx="2285365" cy="2341245"/>
            <a:chOff x="12080" y="11798"/>
            <a:chExt cx="3599" cy="3687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12845" y="11798"/>
              <a:ext cx="2835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12654" y="12012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12463" y="12225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272" y="12438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12080" y="12651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11703050" y="7505065"/>
            <a:ext cx="2287270" cy="2343150"/>
            <a:chOff x="17896" y="16751"/>
            <a:chExt cx="3602" cy="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664" y="16751"/>
              <a:ext cx="2834" cy="2834"/>
              <a:chOff x="9143" y="12863"/>
              <a:chExt cx="2834" cy="2834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梯形 18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8472" y="16965"/>
              <a:ext cx="2834" cy="2834"/>
              <a:chOff x="9143" y="12863"/>
              <a:chExt cx="2834" cy="2834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梯形 27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8280" y="17179"/>
              <a:ext cx="2834" cy="2834"/>
              <a:chOff x="9143" y="12863"/>
              <a:chExt cx="2834" cy="2834"/>
            </a:xfrm>
          </p:grpSpPr>
          <p:cxnSp>
            <p:nvCxnSpPr>
              <p:cNvPr id="30" name="直接箭头连接符 29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梯形 30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088" y="17393"/>
              <a:ext cx="2834" cy="2834"/>
              <a:chOff x="9143" y="12863"/>
              <a:chExt cx="2834" cy="283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梯形 33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7896" y="17607"/>
              <a:ext cx="2834" cy="2834"/>
              <a:chOff x="9143" y="12863"/>
              <a:chExt cx="2834" cy="2834"/>
            </a:xfrm>
          </p:grpSpPr>
          <p:cxnSp>
            <p:nvCxnSpPr>
              <p:cNvPr id="36" name="直接箭头连接符 35"/>
              <p:cNvCxnSpPr/>
              <p:nvPr/>
            </p:nvCxnSpPr>
            <p:spPr>
              <a:xfrm>
                <a:off x="9143" y="14280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梯形 36"/>
              <p:cNvSpPr/>
              <p:nvPr/>
            </p:nvSpPr>
            <p:spPr>
              <a:xfrm rot="5400000">
                <a:off x="9143" y="13713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3" name="直接箭头连接符 52"/>
          <p:cNvCxnSpPr/>
          <p:nvPr/>
        </p:nvCxnSpPr>
        <p:spPr>
          <a:xfrm>
            <a:off x="16311880" y="8676640"/>
            <a:ext cx="25203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梯形 53"/>
          <p:cNvSpPr/>
          <p:nvPr/>
        </p:nvSpPr>
        <p:spPr>
          <a:xfrm rot="5400000">
            <a:off x="16854805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 rot="0">
            <a:off x="18987135" y="7505700"/>
            <a:ext cx="2285365" cy="2341245"/>
            <a:chOff x="12080" y="11798"/>
            <a:chExt cx="3599" cy="3687"/>
          </a:xfrm>
        </p:grpSpPr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12845" y="11798"/>
              <a:ext cx="2835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12654" y="12012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矩形 61"/>
            <p:cNvSpPr>
              <a:spLocks noChangeAspect="1"/>
            </p:cNvSpPr>
            <p:nvPr/>
          </p:nvSpPr>
          <p:spPr>
            <a:xfrm>
              <a:off x="12463" y="12225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12272" y="12438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矩形 63"/>
            <p:cNvSpPr>
              <a:spLocks noChangeAspect="1"/>
            </p:cNvSpPr>
            <p:nvPr/>
          </p:nvSpPr>
          <p:spPr>
            <a:xfrm>
              <a:off x="12080" y="12651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66" name="直接箭头连接符 65"/>
          <p:cNvCxnSpPr/>
          <p:nvPr/>
        </p:nvCxnSpPr>
        <p:spPr>
          <a:xfrm>
            <a:off x="21257895" y="8676640"/>
            <a:ext cx="1786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梯形 66"/>
          <p:cNvSpPr/>
          <p:nvPr/>
        </p:nvSpPr>
        <p:spPr>
          <a:xfrm rot="5400000">
            <a:off x="21064220" y="8316595"/>
            <a:ext cx="2341245" cy="72009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>
            <a:spLocks noChangeAspect="1"/>
          </p:cNvSpPr>
          <p:nvPr/>
        </p:nvSpPr>
        <p:spPr>
          <a:xfrm>
            <a:off x="23196550" y="7776845"/>
            <a:ext cx="1800225" cy="17995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 rot="0">
            <a:off x="25549225" y="7503795"/>
            <a:ext cx="2289810" cy="2345690"/>
            <a:chOff x="28718" y="11791"/>
            <a:chExt cx="3606" cy="369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29490" y="11791"/>
              <a:ext cx="2834" cy="2834"/>
              <a:chOff x="20079" y="23668"/>
              <a:chExt cx="2834" cy="2834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梯形 12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29297" y="12006"/>
              <a:ext cx="2834" cy="2834"/>
              <a:chOff x="20079" y="23668"/>
              <a:chExt cx="2834" cy="2834"/>
            </a:xfrm>
          </p:grpSpPr>
          <p:cxnSp>
            <p:nvCxnSpPr>
              <p:cNvPr id="127" name="直接箭头连接符 126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梯形 127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104" y="12221"/>
              <a:ext cx="2834" cy="2834"/>
              <a:chOff x="20079" y="23668"/>
              <a:chExt cx="2834" cy="2834"/>
            </a:xfrm>
          </p:grpSpPr>
          <p:cxnSp>
            <p:nvCxnSpPr>
              <p:cNvPr id="130" name="直接箭头连接符 129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1" name="梯形 130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8911" y="12436"/>
              <a:ext cx="2834" cy="2834"/>
              <a:chOff x="20079" y="23668"/>
              <a:chExt cx="2834" cy="2834"/>
            </a:xfrm>
          </p:grpSpPr>
          <p:cxnSp>
            <p:nvCxnSpPr>
              <p:cNvPr id="133" name="直接箭头连接符 132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梯形 133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28718" y="12651"/>
              <a:ext cx="2834" cy="2834"/>
              <a:chOff x="20079" y="23668"/>
              <a:chExt cx="2834" cy="2834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20079" y="25085"/>
                <a:ext cx="283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梯形 136"/>
              <p:cNvSpPr/>
              <p:nvPr/>
            </p:nvSpPr>
            <p:spPr>
              <a:xfrm rot="16200000" flipH="1">
                <a:off x="20079" y="24518"/>
                <a:ext cx="2835" cy="1134"/>
              </a:xfrm>
              <a:prstGeom prst="trapezoi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9" name="组合 138"/>
          <p:cNvGrpSpPr/>
          <p:nvPr/>
        </p:nvGrpSpPr>
        <p:grpSpPr>
          <a:xfrm rot="0">
            <a:off x="27901265" y="7505700"/>
            <a:ext cx="3364865" cy="2341245"/>
            <a:chOff x="2652" y="12437"/>
            <a:chExt cx="5299" cy="3687"/>
          </a:xfrm>
        </p:grpSpPr>
        <p:sp>
          <p:nvSpPr>
            <p:cNvPr id="140" name="矩形 139"/>
            <p:cNvSpPr/>
            <p:nvPr/>
          </p:nvSpPr>
          <p:spPr>
            <a:xfrm>
              <a:off x="3417" y="12437"/>
              <a:ext cx="4535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3226" y="12651"/>
              <a:ext cx="396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2" name="矩形 141"/>
            <p:cNvSpPr/>
            <p:nvPr/>
          </p:nvSpPr>
          <p:spPr>
            <a:xfrm>
              <a:off x="3035" y="12864"/>
              <a:ext cx="3402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2844" y="13077"/>
              <a:ext cx="3402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4" name="矩形 143"/>
            <p:cNvSpPr>
              <a:spLocks noChangeAspect="1"/>
            </p:cNvSpPr>
            <p:nvPr/>
          </p:nvSpPr>
          <p:spPr>
            <a:xfrm>
              <a:off x="2652" y="13290"/>
              <a:ext cx="2835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7" name="梯形 146"/>
          <p:cNvSpPr/>
          <p:nvPr/>
        </p:nvSpPr>
        <p:spPr>
          <a:xfrm rot="5400000">
            <a:off x="26103580" y="5533390"/>
            <a:ext cx="1080135" cy="360045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左中括号 151"/>
          <p:cNvSpPr/>
          <p:nvPr/>
        </p:nvSpPr>
        <p:spPr>
          <a:xfrm rot="2460000">
            <a:off x="18989675" y="733044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7230705" y="542163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y’</a:t>
            </a:r>
            <a:endParaRPr lang="en-US" altLang="zh-CN" sz="3200">
              <a:latin typeface="+mn-ea"/>
            </a:endParaRPr>
          </a:p>
        </p:txBody>
      </p:sp>
      <p:grpSp>
        <p:nvGrpSpPr>
          <p:cNvPr id="173" name="组合 172"/>
          <p:cNvGrpSpPr/>
          <p:nvPr/>
        </p:nvGrpSpPr>
        <p:grpSpPr>
          <a:xfrm rot="0">
            <a:off x="16486505" y="7508240"/>
            <a:ext cx="541020" cy="2341245"/>
            <a:chOff x="12174" y="22678"/>
            <a:chExt cx="852" cy="3687"/>
          </a:xfrm>
        </p:grpSpPr>
        <p:sp>
          <p:nvSpPr>
            <p:cNvPr id="161" name="矩形 160"/>
            <p:cNvSpPr>
              <a:spLocks noChangeAspect="1"/>
            </p:cNvSpPr>
            <p:nvPr/>
          </p:nvSpPr>
          <p:spPr>
            <a:xfrm>
              <a:off x="12938" y="22678"/>
              <a:ext cx="89" cy="28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>
              <a:spLocks noChangeAspect="1"/>
            </p:cNvSpPr>
            <p:nvPr/>
          </p:nvSpPr>
          <p:spPr>
            <a:xfrm>
              <a:off x="12747" y="22892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>
              <a:spLocks noChangeAspect="1"/>
            </p:cNvSpPr>
            <p:nvPr/>
          </p:nvSpPr>
          <p:spPr>
            <a:xfrm>
              <a:off x="12556" y="23105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2365" y="23318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>
              <a:spLocks noChangeAspect="1"/>
            </p:cNvSpPr>
            <p:nvPr/>
          </p:nvSpPr>
          <p:spPr>
            <a:xfrm>
              <a:off x="12174" y="23531"/>
              <a:ext cx="89" cy="2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4" name="左中括号 173"/>
          <p:cNvSpPr/>
          <p:nvPr/>
        </p:nvSpPr>
        <p:spPr>
          <a:xfrm rot="2460000">
            <a:off x="1654492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6438880" y="505396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latin typeface="+mn-ea"/>
              </a:rPr>
              <a:t>Clustering labels</a:t>
            </a:r>
            <a:endParaRPr lang="en-US" altLang="zh-CN">
              <a:latin typeface="+mn-ea"/>
            </a:endParaRPr>
          </a:p>
        </p:txBody>
      </p:sp>
      <p:cxnSp>
        <p:nvCxnSpPr>
          <p:cNvPr id="176" name="肘形连接符 175"/>
          <p:cNvCxnSpPr>
            <a:stCxn id="174" idx="1"/>
            <a:endCxn id="177" idx="0"/>
          </p:cNvCxnSpPr>
          <p:nvPr/>
        </p:nvCxnSpPr>
        <p:spPr>
          <a:xfrm rot="10800000" flipH="1">
            <a:off x="16560165" y="5421630"/>
            <a:ext cx="14234795" cy="2252980"/>
          </a:xfrm>
          <a:prstGeom prst="bentConnector4">
            <a:avLst>
              <a:gd name="adj1" fmla="val -1026"/>
              <a:gd name="adj2" fmla="val 11761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30459680" y="542163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y</a:t>
            </a:r>
            <a:endParaRPr lang="en-US" altLang="zh-CN" sz="3200">
              <a:latin typeface="+mn-ea"/>
            </a:endParaRPr>
          </a:p>
        </p:txBody>
      </p:sp>
      <p:cxnSp>
        <p:nvCxnSpPr>
          <p:cNvPr id="178" name="直接连接符 177"/>
          <p:cNvCxnSpPr>
            <a:stCxn id="158" idx="3"/>
            <a:endCxn id="177" idx="1"/>
          </p:cNvCxnSpPr>
          <p:nvPr/>
        </p:nvCxnSpPr>
        <p:spPr>
          <a:xfrm>
            <a:off x="27901265" y="5713730"/>
            <a:ext cx="25584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文本框 178"/>
          <p:cNvSpPr txBox="1"/>
          <p:nvPr/>
        </p:nvSpPr>
        <p:spPr>
          <a:xfrm>
            <a:off x="28265755" y="542163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cls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9786600" y="5422265"/>
            <a:ext cx="124396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con</a:t>
            </a:r>
            <a:endParaRPr lang="en-US" altLang="zh-CN" sz="3200" baseline="-25000">
              <a:latin typeface="+mn-ea"/>
            </a:endParaRPr>
          </a:p>
        </p:txBody>
      </p:sp>
      <p:cxnSp>
        <p:nvCxnSpPr>
          <p:cNvPr id="181" name="肘形连接符 180"/>
          <p:cNvCxnSpPr>
            <a:stCxn id="152" idx="1"/>
            <a:endCxn id="180" idx="1"/>
          </p:cNvCxnSpPr>
          <p:nvPr/>
        </p:nvCxnSpPr>
        <p:spPr>
          <a:xfrm rot="10800000" flipH="1">
            <a:off x="19004915" y="5714365"/>
            <a:ext cx="781685" cy="1962150"/>
          </a:xfrm>
          <a:prstGeom prst="bentConnector3">
            <a:avLst>
              <a:gd name="adj1" fmla="val -11291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2" name="左中括号 181"/>
          <p:cNvSpPr/>
          <p:nvPr/>
        </p:nvSpPr>
        <p:spPr>
          <a:xfrm rot="2460000" flipH="1" flipV="1">
            <a:off x="16124555" y="835088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3" name="左中括号 182"/>
          <p:cNvSpPr/>
          <p:nvPr/>
        </p:nvSpPr>
        <p:spPr>
          <a:xfrm rot="2460000" flipH="1" flipV="1">
            <a:off x="21056600" y="835279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左中括号 183"/>
          <p:cNvSpPr/>
          <p:nvPr/>
        </p:nvSpPr>
        <p:spPr>
          <a:xfrm rot="2460000">
            <a:off x="25639395" y="8229600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5" name="直接箭头连接符 184"/>
          <p:cNvCxnSpPr/>
          <p:nvPr/>
        </p:nvCxnSpPr>
        <p:spPr>
          <a:xfrm>
            <a:off x="25135840" y="8676640"/>
            <a:ext cx="4311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27595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Raw embeddings</a:t>
            </a:r>
            <a:endParaRPr lang="en-US" altLang="zh-CN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351280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Adjusted embeddings</a:t>
            </a:r>
            <a:endParaRPr lang="en-US" altLang="zh-CN">
              <a:latin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844738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Encoded embeddings</a:t>
            </a:r>
            <a:endParaRPr lang="en-US" altLang="zh-CN">
              <a:latin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241423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+mn-ea"/>
              </a:rPr>
              <a:t>Fused embeddings</a:t>
            </a:r>
            <a:endParaRPr lang="en-US" altLang="zh-CN" b="1">
              <a:latin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27901265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Reconstructed embeddings​</a:t>
            </a:r>
            <a:endParaRPr lang="en-US" altLang="zh-CN">
              <a:latin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623425" y="11078210"/>
            <a:ext cx="67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</a:t>
            </a:r>
            <a:endParaRPr lang="en-US" altLang="zh-CN" sz="3200">
              <a:latin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9101415" y="11078210"/>
            <a:ext cx="965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X’</a:t>
            </a:r>
            <a:endParaRPr lang="en-US" altLang="zh-CN" sz="3200">
              <a:latin typeface="+mn-ea"/>
            </a:endParaRPr>
          </a:p>
        </p:txBody>
      </p:sp>
      <p:cxnSp>
        <p:nvCxnSpPr>
          <p:cNvPr id="193" name="直接连接符 192"/>
          <p:cNvCxnSpPr>
            <a:stCxn id="191" idx="3"/>
            <a:endCxn id="192" idx="1"/>
          </p:cNvCxnSpPr>
          <p:nvPr/>
        </p:nvCxnSpPr>
        <p:spPr>
          <a:xfrm>
            <a:off x="10293985" y="11369675"/>
            <a:ext cx="1880743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26166445" y="11078210"/>
            <a:ext cx="101092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+mn-ea"/>
              </a:rPr>
              <a:t>L</a:t>
            </a:r>
            <a:r>
              <a:rPr lang="en-US" altLang="zh-CN" sz="3200" baseline="-25000">
                <a:latin typeface="+mn-ea"/>
              </a:rPr>
              <a:t>rec</a:t>
            </a:r>
            <a:endParaRPr lang="en-US" altLang="zh-CN" sz="3200" baseline="-25000">
              <a:latin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116393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Adapters</a:t>
            </a:r>
            <a:endParaRPr lang="en-US" altLang="zh-CN">
              <a:latin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6342995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Share encoder</a:t>
            </a:r>
            <a:endParaRPr lang="en-US" altLang="zh-CN"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055241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Fuser</a:t>
            </a:r>
            <a:endParaRPr lang="en-US" altLang="zh-CN">
              <a:latin typeface="+mn-ea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25011380" y="6715760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Decoders</a:t>
            </a:r>
            <a:endParaRPr lang="en-US" altLang="zh-CN">
              <a:latin typeface="+mn-ea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185920" y="5053965"/>
            <a:ext cx="11666855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+mn-ea"/>
              </a:rPr>
              <a:t>RepGene Model Architecture Diagram with Data Flow</a:t>
            </a:r>
            <a:endParaRPr lang="en-US" altLang="zh-CN" sz="3200">
              <a:latin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185920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L = 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 + λ</a:t>
            </a:r>
            <a:r>
              <a:rPr lang="en-US" altLang="zh-CN" sz="3200" baseline="-25000">
                <a:latin typeface="+mn-ea"/>
                <a:sym typeface="+mn-ea"/>
              </a:rPr>
              <a:t>1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cls </a:t>
            </a:r>
            <a:r>
              <a:rPr lang="en-US" altLang="zh-CN" sz="3200">
                <a:latin typeface="+mn-ea"/>
                <a:sym typeface="+mn-ea"/>
              </a:rPr>
              <a:t>+ λ</a:t>
            </a:r>
            <a:r>
              <a:rPr lang="en-US" altLang="zh-CN" sz="3200" baseline="-25000">
                <a:latin typeface="+mn-ea"/>
                <a:sym typeface="+mn-ea"/>
              </a:rPr>
              <a:t>2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rec </a:t>
            </a:r>
            <a:endParaRPr lang="en-US" altLang="zh-CN" sz="3200">
              <a:latin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25448260" y="12098655"/>
            <a:ext cx="5818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3200">
                <a:latin typeface="+mn-ea"/>
              </a:rPr>
              <a:t>2025-10-10 V10</a:t>
            </a:r>
            <a:endParaRPr lang="en-US" altLang="zh-CN" sz="320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85920" y="7084060"/>
            <a:ext cx="321564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</a:rPr>
              <a:t>Genomic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Transcriptomic</a:t>
            </a:r>
            <a:endParaRPr lang="en-US" altLang="zh-CN" b="1">
              <a:latin typeface="+mn-ea"/>
              <a:sym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Proteomic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Text</a:t>
            </a:r>
            <a:endParaRPr lang="en-US" altLang="zh-CN" b="1">
              <a:latin typeface="+mn-ea"/>
            </a:endParaRPr>
          </a:p>
          <a:p>
            <a:pPr indent="0" algn="r" fontAlgn="auto">
              <a:lnSpc>
                <a:spcPct val="200000"/>
              </a:lnSpc>
            </a:pPr>
            <a:r>
              <a:rPr lang="en-US" altLang="zh-CN" b="1">
                <a:latin typeface="+mn-ea"/>
                <a:sym typeface="+mn-ea"/>
              </a:rPr>
              <a:t>Single-cell Transcriptomic</a:t>
            </a:r>
            <a:endParaRPr lang="en-US" altLang="zh-CN" b="1">
              <a:latin typeface="+mn-ea"/>
            </a:endParaRPr>
          </a:p>
        </p:txBody>
      </p:sp>
      <p:sp>
        <p:nvSpPr>
          <p:cNvPr id="3" name="左中括号 2"/>
          <p:cNvSpPr/>
          <p:nvPr/>
        </p:nvSpPr>
        <p:spPr>
          <a:xfrm rot="2460000">
            <a:off x="8278495" y="7328535"/>
            <a:ext cx="123825" cy="77343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中括号 5"/>
          <p:cNvSpPr/>
          <p:nvPr/>
        </p:nvSpPr>
        <p:spPr>
          <a:xfrm flipH="1">
            <a:off x="7414895" y="7382510"/>
            <a:ext cx="123825" cy="2520000"/>
          </a:xfrm>
          <a:prstGeom prst="leftBracke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曲线连接符 13"/>
          <p:cNvCxnSpPr>
            <a:stCxn id="6" idx="1"/>
            <a:endCxn id="3" idx="1"/>
          </p:cNvCxnSpPr>
          <p:nvPr/>
        </p:nvCxnSpPr>
        <p:spPr>
          <a:xfrm flipV="1">
            <a:off x="7538720" y="7674610"/>
            <a:ext cx="755015" cy="968375"/>
          </a:xfrm>
          <a:prstGeom prst="curvedConnector3">
            <a:avLst>
              <a:gd name="adj1" fmla="val 3322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10990" y="1042987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+mn-ea"/>
              </a:rPr>
              <a:t>Modals</a:t>
            </a:r>
            <a:endParaRPr lang="en-US" altLang="zh-CN"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62440" y="12098655"/>
            <a:ext cx="5825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</a:rPr>
              <a:t>Phase 1</a:t>
            </a:r>
            <a:r>
              <a:rPr lang="zh-CN" altLang="en-US" sz="3200">
                <a:latin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r>
              <a:rPr lang="en-US" altLang="zh-CN" sz="3200" baseline="-25000">
                <a:latin typeface="+mn-ea"/>
                <a:sym typeface="+mn-ea"/>
              </a:rPr>
              <a:t>con</a:t>
            </a:r>
            <a:r>
              <a:rPr lang="en-US" altLang="zh-CN" sz="3200">
                <a:latin typeface="+mn-ea"/>
                <a:sym typeface="+mn-ea"/>
              </a:rPr>
              <a:t>, </a:t>
            </a:r>
            <a:r>
              <a:rPr lang="en-US" altLang="zh-CN" sz="3200">
                <a:latin typeface="+mn-ea"/>
                <a:sym typeface="+mn-ea"/>
              </a:rPr>
              <a:t>Phase 2</a:t>
            </a:r>
            <a:r>
              <a:rPr lang="zh-CN" altLang="en-US" sz="3200">
                <a:latin typeface="+mn-ea"/>
                <a:sym typeface="+mn-ea"/>
              </a:rPr>
              <a:t>：</a:t>
            </a:r>
            <a:r>
              <a:rPr lang="en-US" altLang="zh-CN" sz="3200">
                <a:latin typeface="+mn-ea"/>
                <a:sym typeface="+mn-ea"/>
              </a:rPr>
              <a:t>L</a:t>
            </a:r>
            <a:endParaRPr lang="zh-CN" altLang="en-US" sz="320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WPS 演示</Application>
  <PresentationFormat>宽屏</PresentationFormat>
  <Paragraphs>254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雪垆</cp:lastModifiedBy>
  <cp:revision>170</cp:revision>
  <dcterms:created xsi:type="dcterms:W3CDTF">2023-08-09T12:44:00Z</dcterms:created>
  <dcterms:modified xsi:type="dcterms:W3CDTF">2025-10-30T12:35:52Z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